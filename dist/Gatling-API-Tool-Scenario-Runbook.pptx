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/>
    <p:guideLst/>
  </p:slideViewPr>
  <p:notesTextViewPr>
    <p:cViewPr/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Gatling API Tool: Orders QA Scenario Runbook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Project: orders-service performance validation</a:t>
            </a:r>
            <a:endParaRPr lang="en-US"/>
          </a:p>
          <a:p>
            <a:r>
              <a:rPr lang="en-US" sz="2000"/>
              <a:t>â€¢ Mode: preview + real backend Gatling</a:t>
            </a:r>
            <a:endParaRPr lang="en-US"/>
          </a:p>
          <a:p>
            <a:r>
              <a:rPr lang="en-US" sz="2000"/>
              <a:t>â€¢ Objective: stable p95 and 99%+ success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1: Install and Start Workspace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Run check-prerequisites.bat</a:t>
            </a:r>
            <a:endParaRPr lang="en-US"/>
          </a:p>
          <a:p>
            <a:r>
              <a:rPr lang="en-US" sz="2000"/>
              <a:t>â€¢ Run start-ui-workspace.bat</a:t>
            </a:r>
            <a:endParaRPr lang="en-US"/>
          </a:p>
          <a:p>
            <a:r>
              <a:rPr lang="en-US" sz="2000"/>
              <a:t>â€¢ Runner API target: http://127.0.0.1:8787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Scenario We Will Build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Application: orders-service</a:t>
            </a:r>
            <a:endParaRPr lang="en-US"/>
          </a:p>
          <a:p>
            <a:r>
              <a:rPr lang="en-US" sz="2000"/>
              <a:t>â€¢ Environment: qa</a:t>
            </a:r>
            <a:endParaRPr lang="en-US"/>
          </a:p>
          <a:p>
            <a:r>
              <a:rPr lang="en-US" sz="2000"/>
              <a:t>â€¢ Flow: GET /orders -&gt; GET /orders/#{orderId} -&gt; POST /orders</a:t>
            </a:r>
            <a:endParaRPr lang="en-US"/>
          </a:p>
          <a:p>
            <a:r>
              <a:rPr lang="en-US" sz="2000"/>
              <a:t>â€¢ Assertions: success &gt;= 99, p95 &lt;= 1200ms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2: Base Service and App Setup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Base URL: https://qa.api.company.com</a:t>
            </a:r>
            <a:endParaRPr lang="en-US"/>
          </a:p>
          <a:p>
            <a:r>
              <a:rPr lang="en-US" sz="2000"/>
              <a:t>â€¢ Auth: bearer token from API_TOKEN</a:t>
            </a:r>
            <a:endParaRPr lang="en-US"/>
          </a:p>
          <a:p>
            <a:r>
              <a:rPr lang="en-US" sz="2000"/>
              <a:t>â€¢ Global assertions: success 99, maxRT 2000, p95 1200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3: Injection Profile Design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smoke_5: 5 users / 15 sec</a:t>
            </a:r>
            <a:endParaRPr lang="en-US"/>
          </a:p>
          <a:p>
            <a:r>
              <a:rPr lang="en-US" sz="2000"/>
              <a:t>â€¢ baseline_20: ramp 20 users / 60 sec</a:t>
            </a:r>
            <a:endParaRPr lang="en-US"/>
          </a:p>
          <a:p>
            <a:r>
              <a:rPr lang="en-US" sz="2000"/>
              <a:t>â€¢ stress_80: ramp 80 users / 180 sec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4: Core Scenario Steps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Step1 List Orders: GET /orders expected 200</a:t>
            </a:r>
            <a:endParaRPr lang="en-US"/>
          </a:p>
          <a:p>
            <a:r>
              <a:rPr lang="en-US" sz="2000"/>
              <a:t>â€¢ Step2 Get Order: GET /orders/#{orderId} expected 200</a:t>
            </a:r>
            <a:endParaRPr lang="en-US"/>
          </a:p>
          <a:p>
            <a:r>
              <a:rPr lang="en-US" sz="2000"/>
              <a:t>â€¢ Step3 Create Order: POST /orders expected 201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5: Checks and Captures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Checks: jsonPathExists($.items[0].id), bodyContains("order")</a:t>
            </a:r>
            <a:endParaRPr lang="en-US"/>
          </a:p>
          <a:p>
            <a:r>
              <a:rPr lang="en-US" sz="2000"/>
              <a:t>â€¢ Capture: $.items[0].id -&gt; orderId</a:t>
            </a:r>
            <a:endParaRPr lang="en-US"/>
          </a:p>
          <a:p>
            <a:r>
              <a:rPr lang="en-US" sz="2000"/>
              <a:t>â€¢ Use #{orderId} in step 2 path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6: Feeders, Params, and Body Files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Feeder file: src/test/resources/data/users.csv</a:t>
            </a:r>
            <a:endParaRPr lang="en-US"/>
          </a:p>
          <a:p>
            <a:r>
              <a:rPr lang="en-US" sz="2000"/>
              <a:t>â€¢ Mode: circular for repeatability</a:t>
            </a:r>
            <a:endParaRPr lang="en-US"/>
          </a:p>
          <a:p>
            <a:r>
              <a:rPr lang="en-US" sz="2000"/>
              <a:t>â€¢ POST body: bodyFile src/test/resources/bodies/create-order.json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7: Branching and Request Flags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Conditional if/else: if #{customerTier} == premium then /orders/premium</a:t>
            </a:r>
            <a:endParaRPr lang="en-US"/>
          </a:p>
          <a:p>
            <a:r>
              <a:rPr lang="en-US" sz="2000"/>
              <a:t>â€¢ Else fallback route: /orders/standard</a:t>
            </a:r>
            <a:endParaRPr lang="en-US"/>
          </a:p>
          <a:p>
            <a:r>
              <a:rPr lang="en-US" sz="2000"/>
              <a:t>â€¢ Example operator set: equals, notEquals, contains, exists</a:t>
            </a:r>
            <a:endParaRPr lang="en-US"/>
          </a:p>
          <a:p>
            <a:r>
              <a:rPr lang="en-US" sz="2000"/>
              <a:t>â€¢ Flags: timeout 30000, disableFollowRedirect=true for validation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Conditional Statement Example (YAML)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when: variable=customerTier operator=equals value=premium</a:t>
            </a:r>
            <a:endParaRPr lang="en-US"/>
          </a:p>
          <a:p>
            <a:r>
              <a:rPr lang="en-US" sz="2000"/>
              <a:t>â€¢ then: method=GET path=/orders/premium expectedStatus=200</a:t>
            </a:r>
            <a:endParaRPr lang="en-US"/>
          </a:p>
          <a:p>
            <a:r>
              <a:rPr lang="en-US" sz="2000"/>
              <a:t>â€¢ else: method=GET elsePath=/orders/standard elseExpectedStatus=200</a:t>
            </a:r>
            <a:endParaRPr lang="en-US"/>
          </a:p>
          <a:p>
            <a:r>
              <a:rPr lang="en-US" sz="2000"/>
              <a:t>â€¢ Use captures from prior step to drive the branch input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8: Multipart, TLS, and Auth Variants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Upload endpoint example: POST /orders/import with formUploads</a:t>
            </a:r>
            <a:endParaRPr lang="en-US"/>
          </a:p>
          <a:p>
            <a:r>
              <a:rPr lang="en-US" sz="2000"/>
              <a:t>â€¢ TLS: trustStore from env-backed password</a:t>
            </a:r>
            <a:endParaRPr lang="en-US"/>
          </a:p>
          <a:p>
            <a:r>
              <a:rPr lang="en-US" sz="2000"/>
              <a:t>â€¢ Environment auth override allowed for qa/prod-like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9: Expert / Raw YAML Mode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Click Sync Generated YAML Into Editor</a:t>
            </a:r>
            <a:endParaRPr lang="en-US"/>
          </a:p>
          <a:p>
            <a:r>
              <a:rPr lang="en-US" sz="2000"/>
              <a:t>â€¢ Turn Use Raw YAML On for only required overrides</a:t>
            </a:r>
            <a:endParaRPr lang="en-US"/>
          </a:p>
          <a:p>
            <a:r>
              <a:rPr lang="en-US" sz="2000"/>
              <a:t>â€¢ Recommended: retain profile names + assertion blocks unchanged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10: Real Gatling Run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Click Check Runner -&gt; expect healthy</a:t>
            </a:r>
            <a:endParaRPr lang="en-US"/>
          </a:p>
          <a:p>
            <a:r>
              <a:rPr lang="en-US" sz="2000"/>
              <a:t>â€¢ Click Run Real Load (Gatling)</a:t>
            </a:r>
            <a:endParaRPr lang="en-US"/>
          </a:p>
          <a:p>
            <a:r>
              <a:rPr lang="en-US" sz="2000"/>
              <a:t>â€¢ Track job ID and output tail until report availability = Final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11: Report Analysis and Troubleshooting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KPI gates: success &gt;= 99, p95 &lt;= 1200, p99 &lt;= 2000</a:t>
            </a:r>
            <a:endParaRPr lang="en-US"/>
          </a:p>
          <a:p>
            <a:r>
              <a:rPr lang="en-US" sz="2000"/>
              <a:t>â€¢ Review top failure reasons table first</a:t>
            </a:r>
            <a:endParaRPr lang="en-US"/>
          </a:p>
          <a:p>
            <a:r>
              <a:rPr lang="en-US" sz="2000"/>
              <a:t>â€¢ Use parity diagnostics to separate preview artifacts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300000" cy="600000"/>
          </a:xfrm>
        </p:spPr>
        <p:txBody>
          <a:bodyPr/>
          <a:lstStyle/>
          <a:p>
            <a:r>
              <a:rPr lang="en-US" sz="3400" b="1"/>
              <a:t>Step 12: Save Suites and Release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457200" y="1066800"/>
            <a:ext cx="5600000" cy="5200000"/>
          </a:xfrm>
        </p:spPr>
        <p:txBody>
          <a:bodyPr/>
          <a:lstStyle/>
          <a:p>
            <a:r>
              <a:rPr lang="en-US" sz="2000"/>
              <a:t>â€¢ Save suite as: orders-qa-regression</a:t>
            </a:r>
            <a:endParaRPr lang="en-US"/>
          </a:p>
          <a:p>
            <a:r>
              <a:rPr lang="en-US" sz="2000"/>
              <a:t>â€¢ Run build-release.bat for package + checksum</a:t>
            </a:r>
            <a:endParaRPr lang="en-US"/>
          </a:p>
          <a:p>
            <a:r>
              <a:rPr lang="en-US" sz="2000"/>
              <a:t>â€¢ Share dist zip + latest-bundle.sha256 to downstream teams</a:t>
            </a:r>
            <a:endParaRPr lang="en-US"/>
          </a:p>
        </p:txBody>
      </p:sp>
      <p:pic>
        <p:nvPicPr>
          <p:cNvPr id="30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150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randed">
  <a:themeElements>
    <a:clrScheme name="Branded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0F5CC0"/>
      </a:accent1>
      <a:accent2>
        <a:srgbClr val="11845B"/>
      </a:accent2>
      <a:accent3>
        <a:srgbClr val="D97706"/>
      </a:accent3>
      <a:accent4>
        <a:srgbClr val="DC2626"/>
      </a:accent4>
      <a:accent5>
        <a:srgbClr val="0EA5E9"/>
      </a:accent5>
      <a:accent6>
        <a:srgbClr val="7C3AED"/>
      </a:accent6>
      <a:hlink>
        <a:srgbClr val="2563EB"/>
      </a:hlink>
      <a:folHlink>
        <a:srgbClr val="7C3AED"/>
      </a:folHlink>
    </a:clrScheme>
    <a:fontScheme name="Branded">
      <a:majorFont>
        <a:latin typeface="Calibri"/>
      </a:majorFont>
      <a:minorFont>
        <a:latin typeface="Calibri"/>
      </a:minorFont>
    </a:fontScheme>
    <a:fmtScheme name="Branded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15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15</vt:i4>
      </vt:variant>
    </vt:vector>
  </HeadingPairs>
  <TitlesOfParts>
    <vt:vector size="15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Gatling API Tool Training (Branded)</dc:title>
  <dc:creator>Codex</dc:creator>
  <cp:lastModifiedBy>Codex</cp:lastModifiedBy>
  <dcterms:created xsi:type="dcterms:W3CDTF">2026-03-08T00:00:00Z</dcterms:created>
  <dcterms:modified xsi:type="dcterms:W3CDTF">2026-03-08T00:00:00Z</dcterms:modified>
</cp:coreProperties>
</file>