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/>
    <p:guideLst/>
  </p:slideViewPr>
  <p:notesTextViewPr>
    <p:cViewPr/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Gatling API Tool: Scenario-Driven Training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Detailed installation-to-expert walkthrough</a:t>
            </a:r>
            <a:endParaRPr lang="en-US"/>
          </a:p>
          <a:p>
            <a:r>
              <a:rPr lang="en-US" sz="2000"/>
              <a:t>â€¢ Built around a realistic API scenario</a:t>
            </a:r>
            <a:endParaRPr lang="en-US"/>
          </a:p>
          <a:p>
            <a:r>
              <a:rPr lang="en-US" sz="2000"/>
              <a:t>â€¢ Preview + real Gatling execution paths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1: Install and Start Workspace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Run check-prerequisites.bat</a:t>
            </a:r>
            <a:endParaRPr lang="en-US"/>
          </a:p>
          <a:p>
            <a:r>
              <a:rPr lang="en-US" sz="2000"/>
              <a:t>â€¢ Run start-ui-workspace.bat</a:t>
            </a:r>
            <a:endParaRPr lang="en-US"/>
          </a:p>
          <a:p>
            <a:r>
              <a:rPr lang="en-US" sz="2000"/>
              <a:t>â€¢ Verify runner API and UI launch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Scenario We Will Build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Application: orders-service</a:t>
            </a:r>
            <a:endParaRPr lang="en-US"/>
          </a:p>
          <a:p>
            <a:r>
              <a:rPr lang="en-US" sz="2000"/>
              <a:t>â€¢ Environment: qa</a:t>
            </a:r>
            <a:endParaRPr lang="en-US"/>
          </a:p>
          <a:p>
            <a:r>
              <a:rPr lang="en-US" sz="2000"/>
              <a:t>â€¢ Flow: list orders -&gt; get order -&gt; create order</a:t>
            </a:r>
            <a:endParaRPr lang="en-US"/>
          </a:p>
          <a:p>
            <a:r>
              <a:rPr lang="en-US" sz="2000"/>
              <a:t>â€¢ Assertions: success &gt;= 99%, p95 under threshold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2: Base Service and App Setup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Set base URL, auth strategy, and global assertions</a:t>
            </a:r>
            <a:endParaRPr lang="en-US"/>
          </a:p>
          <a:p>
            <a:r>
              <a:rPr lang="en-US" sz="2000"/>
              <a:t>â€¢ Create app entries and choose active app</a:t>
            </a:r>
            <a:endParaRPr lang="en-US"/>
          </a:p>
          <a:p>
            <a:r>
              <a:rPr lang="en-US" sz="2000"/>
              <a:t>â€¢ Keep app-level defaults clean before step-level overrides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3: Injection Profile Design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Create smoke, baseline, and stress profiles</a:t>
            </a:r>
            <a:endParaRPr lang="en-US"/>
          </a:p>
          <a:p>
            <a:r>
              <a:rPr lang="en-US" sz="2000"/>
              <a:t>â€¢ Map each scenario to one profile</a:t>
            </a:r>
            <a:endParaRPr lang="en-US"/>
          </a:p>
          <a:p>
            <a:r>
              <a:rPr lang="en-US" sz="2000"/>
              <a:t>â€¢ Example: ramp 20 users over 60 sec for QA baseline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4: Core Scenario Steps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Add method/path/expectedStatus per API step</a:t>
            </a:r>
            <a:endParaRPr lang="en-US"/>
          </a:p>
          <a:p>
            <a:r>
              <a:rPr lang="en-US" sz="2000"/>
              <a:t>â€¢ Use compact cards first, then expand only needed sections</a:t>
            </a:r>
            <a:endParaRPr lang="en-US"/>
          </a:p>
          <a:p>
            <a:r>
              <a:rPr lang="en-US" sz="2000"/>
              <a:t>â€¢ Validate after each 2-3 steps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5: Checks and Captures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Add bodyContains/jsonPath checks to detect bad responses</a:t>
            </a:r>
            <a:endParaRPr lang="en-US"/>
          </a:p>
          <a:p>
            <a:r>
              <a:rPr lang="en-US" sz="2000"/>
              <a:t>â€¢ Capture IDs with saveAs and reuse with #{var}</a:t>
            </a:r>
            <a:endParaRPr lang="en-US"/>
          </a:p>
          <a:p>
            <a:r>
              <a:rPr lang="en-US" sz="2000"/>
              <a:t>â€¢ Use checks before captures for stable chaining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6: Feeders, Params, and Body Files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CSV feeder modes: queue, random, circular</a:t>
            </a:r>
            <a:endParaRPr lang="en-US"/>
          </a:p>
          <a:p>
            <a:r>
              <a:rPr lang="en-US" sz="2000"/>
              <a:t>â€¢ Use query/form params for search/filter APIs</a:t>
            </a:r>
            <a:endParaRPr lang="en-US"/>
          </a:p>
          <a:p>
            <a:r>
              <a:rPr lang="en-US" sz="2000"/>
              <a:t>â€¢ Use bodyFile for large payloads to keep UI readable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7: Branching and Request Flags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Configure conditional branches by captured variable</a:t>
            </a:r>
            <a:endParaRPr lang="en-US"/>
          </a:p>
          <a:p>
            <a:r>
              <a:rPr lang="en-US" sz="2000"/>
              <a:t>â€¢ Tune requestTimeout, redirects, encoding, silent mode</a:t>
            </a:r>
            <a:endParaRPr lang="en-US"/>
          </a:p>
          <a:p>
            <a:r>
              <a:rPr lang="en-US" sz="2000"/>
              <a:t>â€¢ Use else path for fallback behavior coverage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8: Multipart, TLS, and Auth Variants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Multipart formUploads for file APIs</a:t>
            </a:r>
            <a:endParaRPr lang="en-US"/>
          </a:p>
          <a:p>
            <a:r>
              <a:rPr lang="en-US" sz="2000"/>
              <a:t>â€¢ Service/environment TLS overrides for secure endpoints</a:t>
            </a:r>
            <a:endParaRPr lang="en-US"/>
          </a:p>
          <a:p>
            <a:r>
              <a:rPr lang="en-US" sz="2000"/>
              <a:t>â€¢ Bearer/basic/header auth per service or per step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9: Expert / Raw YAML Mode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Sync generated YAML into raw editor</a:t>
            </a:r>
            <a:endParaRPr lang="en-US"/>
          </a:p>
          <a:p>
            <a:r>
              <a:rPr lang="en-US" sz="2000"/>
              <a:t>â€¢ Enable raw override only for edge cases</a:t>
            </a:r>
            <a:endParaRPr lang="en-US"/>
          </a:p>
          <a:p>
            <a:r>
              <a:rPr lang="en-US" sz="2000"/>
              <a:t>â€¢ Keep a minimal diff from generated YAML for maintainability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10: Real Gatling Run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Check Runner, then Run Real Load</a:t>
            </a:r>
            <a:endParaRPr lang="en-US"/>
          </a:p>
          <a:p>
            <a:r>
              <a:rPr lang="en-US" sz="2000"/>
              <a:t>â€¢ Track run state, job ID, and output tail</a:t>
            </a:r>
            <a:endParaRPr lang="en-US"/>
          </a:p>
          <a:p>
            <a:r>
              <a:rPr lang="en-US" sz="2000"/>
              <a:t>â€¢ Use embedded report link when final report is ready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11: Report Analysis and Troubleshooting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Review KPI cards and per-step p95/p99</a:t>
            </a:r>
            <a:endParaRPr lang="en-US"/>
          </a:p>
          <a:p>
            <a:r>
              <a:rPr lang="en-US" sz="2000"/>
              <a:t>â€¢ Investigate failure reasons and parity diagnostics</a:t>
            </a:r>
            <a:endParaRPr lang="en-US"/>
          </a:p>
          <a:p>
            <a:r>
              <a:rPr lang="en-US" sz="2000"/>
              <a:t>â€¢ Differentiate preview limitations vs real backend behavior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12: Save Suites and Release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Save reusable regression suites in UI</a:t>
            </a:r>
            <a:endParaRPr lang="en-US"/>
          </a:p>
          <a:p>
            <a:r>
              <a:rPr lang="en-US" sz="2000"/>
              <a:t>â€¢ Use build-release.bat for distributable package</a:t>
            </a:r>
            <a:endParaRPr lang="en-US"/>
          </a:p>
          <a:p>
            <a:r>
              <a:rPr lang="en-US" sz="2000"/>
              <a:t>â€¢ Share zip + checksum for reproducible handoff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randed">
  <a:themeElements>
    <a:clrScheme name="Branded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0F5CC0"/>
      </a:accent1>
      <a:accent2>
        <a:srgbClr val="11845B"/>
      </a:accent2>
      <a:accent3>
        <a:srgbClr val="D97706"/>
      </a:accent3>
      <a:accent4>
        <a:srgbClr val="DC2626"/>
      </a:accent4>
      <a:accent5>
        <a:srgbClr val="0EA5E9"/>
      </a:accent5>
      <a:accent6>
        <a:srgbClr val="7C3AED"/>
      </a:accent6>
      <a:hlink>
        <a:srgbClr val="2563EB"/>
      </a:hlink>
      <a:folHlink>
        <a:srgbClr val="7C3AED"/>
      </a:folHlink>
    </a:clrScheme>
    <a:fontScheme name="Branded">
      <a:majorFont>
        <a:latin typeface="Calibri"/>
      </a:majorFont>
      <a:minorFont>
        <a:latin typeface="Calibri"/>
      </a:minorFont>
    </a:fontScheme>
    <a:fmtScheme name="Branded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Gatling API Tool Training (Branded)</dc:title>
  <dc:creator>Codex</dc:creator>
  <cp:lastModifiedBy>Codex</cp:lastModifiedBy>
  <dcterms:created xsi:type="dcterms:W3CDTF">2026-03-08T00:00:00Z</dcterms:created>
  <dcterms:modified xsi:type="dcterms:W3CDTF">2026-03-08T00:00:00Z</dcterms:modified>
</cp:coreProperties>
</file>